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64FFDA"/>
                </a:solidFill>
                <a:latin typeface="Arial"/>
              </a:defRPr>
            </a:pPr>
            <a:r>
              <a:t>Smart Community Decision Intelligence</a:t>
            </a:r>
          </a:p>
          <a:p>
            <a:pPr>
              <a:defRPr sz="2000">
                <a:solidFill>
                  <a:srgbClr val="F0F0F0"/>
                </a:solidFill>
                <a:latin typeface="Arial"/>
              </a:defRPr>
            </a:pPr>
            <a:r>
              <a:t>Secure, Multi-Agent Urban Intelligence using Google ADK &amp; FastMCP</a:t>
            </a:r>
          </a:p>
          <a:p>
            <a:br/>
            <a:pPr>
              <a:defRPr sz="1400">
                <a:solidFill>
                  <a:srgbClr val="969696"/>
                </a:solidFill>
              </a:defRPr>
            </a:pPr>
            <a:r>
              <a:t>Track: Agents for Good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4FFDA"/>
                </a:solidFill>
              </a:defRPr>
            </a:pPr>
            <a:r>
              <a:t>Problem Statement</a:t>
            </a:r>
          </a:p>
          <a:p>
            <a:pPr>
              <a:defRPr sz="1800" b="1">
                <a:solidFill>
                  <a:srgbClr val="64FFDA"/>
                </a:solidFill>
              </a:defRPr>
            </a:pPr>
            <a:r>
              <a:t>• </a:t>
            </a:r>
            <a:br/>
            <a:r>
              <a:t>Fragmented Urban Data Streams</a:t>
            </a:r>
          </a:p>
          <a:p>
            <a:pPr>
              <a:spcAft>
                <a:spcPts val="1000"/>
              </a:spcAft>
              <a:defRPr sz="1400">
                <a:solidFill>
                  <a:srgbClr val="F0F0F0"/>
                </a:solidFill>
              </a:defRPr>
            </a:pPr>
            <a:r>
              <a:t>  Municipalities generate massive amounts of disconnected data (traffic reports, AQI sensors, ER wait times, and citizen aid schemes).</a:t>
            </a:r>
          </a:p>
          <a:p>
            <a:pPr>
              <a:defRPr sz="1800" b="1">
                <a:solidFill>
                  <a:srgbClr val="64FFDA"/>
                </a:solidFill>
              </a:defRPr>
            </a:pPr>
            <a:r>
              <a:t>• Decision Delay &amp; Complexity</a:t>
            </a:r>
          </a:p>
          <a:p>
            <a:pPr>
              <a:spcAft>
                <a:spcPts val="1000"/>
              </a:spcAft>
              <a:defRPr sz="1400">
                <a:solidFill>
                  <a:srgbClr val="F0F0F0"/>
                </a:solidFill>
              </a:defRPr>
            </a:pPr>
            <a:r>
              <a:t>  Citizens and administrators struggle to manually consolidate these sources in real-time, especially during emergencies or commuter transit changes.</a:t>
            </a:r>
          </a:p>
          <a:p>
            <a:pPr>
              <a:defRPr sz="1800" b="1">
                <a:solidFill>
                  <a:srgbClr val="64FFDA"/>
                </a:solidFill>
              </a:defRPr>
            </a:pPr>
            <a:r>
              <a:t>• Security and Privacy Risks</a:t>
            </a:r>
          </a:p>
          <a:p>
            <a:pPr>
              <a:spcAft>
                <a:spcPts val="1000"/>
              </a:spcAft>
              <a:defRPr sz="1400">
                <a:solidFill>
                  <a:srgbClr val="F0F0F0"/>
                </a:solidFill>
              </a:defRPr>
            </a:pPr>
            <a:r>
              <a:t>  Forwarding raw citizen queries containing personal info (PII) directly to public AI endpoints raises compliance and privacy issues.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4FFDA"/>
                </a:solidFill>
              </a:defRPr>
            </a:pPr>
            <a:r>
              <a:t>Solution Architecture</a:t>
            </a:r>
          </a:p>
          <a:p>
            <a:pPr>
              <a:spcAft>
                <a:spcPts val="1000"/>
              </a:spcAft>
              <a:defRPr sz="1500" b="1">
                <a:solidFill>
                  <a:srgbClr val="F0F0F0"/>
                </a:solidFill>
              </a:defRPr>
            </a:pPr>
            <a:r>
              <a:t>• </a:t>
            </a:r>
            <a:br/>
            <a:r>
              <a:t>Root Orchestrator (LlmAgent): Receives user request, extracts intent, and invokes specialist sub-agents using AgentTool.</a:t>
            </a:r>
          </a:p>
          <a:p>
            <a:pPr>
              <a:spcAft>
                <a:spcPts val="1000"/>
              </a:spcAft>
              <a:defRPr sz="1500" b="1">
                <a:solidFill>
                  <a:srgbClr val="F0F0F0"/>
                </a:solidFill>
              </a:defRPr>
            </a:pPr>
            <a:r>
              <a:t>• Domain Specialists: 5 agents (Traffic, Healthcare, Environment, Emergency, and Public Services) analyze specific sub-tasks.</a:t>
            </a:r>
          </a:p>
          <a:p>
            <a:pPr>
              <a:spcAft>
                <a:spcPts val="1000"/>
              </a:spcAft>
              <a:defRPr sz="1500" b="1">
                <a:solidFill>
                  <a:srgbClr val="F0F0F0"/>
                </a:solidFill>
              </a:defRPr>
            </a:pPr>
            <a:r>
              <a:t>• Model Context Protocol (FastMCP): Connects agents to local database APIs (e.g. AQI, clinic locations, and congestion levels).</a:t>
            </a:r>
          </a:p>
          <a:p>
            <a:pPr>
              <a:spcAft>
                <a:spcPts val="1000"/>
              </a:spcAft>
              <a:defRPr sz="1500" b="1">
                <a:solidFill>
                  <a:srgbClr val="F0F0F0"/>
                </a:solidFill>
              </a:defRPr>
            </a:pPr>
            <a:r>
              <a:t>• Decision Intelligence Node: Aggregates all specialist findings and generates a single structured Markdown dashboard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4FFDA"/>
                </a:solidFill>
              </a:defRPr>
            </a:pPr>
            <a:r>
              <a:t>Security &amp; Safety Gateways</a:t>
            </a:r>
          </a:p>
          <a:p>
            <a:pPr>
              <a:spcAft>
                <a:spcPts val="1000"/>
              </a:spcAft>
              <a:defRPr sz="1500" b="1">
                <a:solidFill>
                  <a:srgbClr val="F0F0F0"/>
                </a:solidFill>
              </a:defRPr>
            </a:pPr>
            <a:r>
              <a:t>• </a:t>
            </a:r>
            <a:br/>
            <a:r>
              <a:t>PII Scrubbing Node: Regex patterns automatically redact citizen phone numbers and emails at the input boundary.</a:t>
            </a:r>
          </a:p>
          <a:p>
            <a:pPr>
              <a:spcAft>
                <a:spcPts val="1000"/>
              </a:spcAft>
              <a:defRPr sz="1500" b="1">
                <a:solidFill>
                  <a:srgbClr val="F0F0F0"/>
                </a:solidFill>
              </a:defRPr>
            </a:pPr>
            <a:r>
              <a:t>• Prompt Injection Block: Scans for keywords (like 'ignore rules' or 'bypass security') and routes to an execution block node.</a:t>
            </a:r>
          </a:p>
          <a:p>
            <a:pPr>
              <a:spcAft>
                <a:spcPts val="1000"/>
              </a:spcAft>
              <a:defRPr sz="1500" b="1">
                <a:solidFill>
                  <a:srgbClr val="F0F0F0"/>
                </a:solidFill>
              </a:defRPr>
            </a:pPr>
            <a:r>
              <a:t>• Responsible AI Guardrails: Blocks malicious queries and restricts medical diagnoses to prioritize safety.</a:t>
            </a:r>
          </a:p>
          <a:p>
            <a:pPr>
              <a:spcAft>
                <a:spcPts val="1000"/>
              </a:spcAft>
              <a:defRPr sz="1500" b="1">
                <a:solidFill>
                  <a:srgbClr val="F0F0F0"/>
                </a:solidFill>
              </a:defRPr>
            </a:pPr>
            <a:r>
              <a:t>• JSON Audit Logging: Every evaluation generates a structured JSON audit trace indicating severity levels (INFO/CRITICAL).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4FFDA"/>
                </a:solidFill>
              </a:defRPr>
            </a:pPr>
            <a:r>
              <a:t>Human-in-the-Loop &amp; Validation</a:t>
            </a:r>
          </a:p>
          <a:p>
            <a:pPr>
              <a:spcAft>
                <a:spcPts val="1000"/>
              </a:spcAft>
              <a:defRPr sz="1500" b="1">
                <a:solidFill>
                  <a:srgbClr val="F0F0F0"/>
                </a:solidFill>
              </a:defRPr>
            </a:pPr>
            <a:r>
              <a:t>• </a:t>
            </a:r>
            <a:br/>
            <a:r>
              <a:t>Human-in-the-Loop Consent: If critical keywords (flood, evacuation) are detected, the workflow pauses, yielding a RequestInput to prompt the administrator for authorization.</a:t>
            </a:r>
          </a:p>
          <a:p>
            <a:pPr>
              <a:spcAft>
                <a:spcPts val="1000"/>
              </a:spcAft>
              <a:defRPr sz="1500" b="1">
                <a:solidFill>
                  <a:srgbClr val="F0F0F0"/>
                </a:solidFill>
              </a:defRPr>
            </a:pPr>
            <a:r>
              <a:t>• Test Case 1: Commute Query: Query: 'Can I travel today?' -&gt; Auto-approves, fetches traffic via MCP tool, returns subway/congestion stats.</a:t>
            </a:r>
          </a:p>
          <a:p>
            <a:pPr>
              <a:spcAft>
                <a:spcPts val="1000"/>
              </a:spcAft>
              <a:defRPr sz="1500" b="1">
                <a:solidFill>
                  <a:srgbClr val="F0F0F0"/>
                </a:solidFill>
              </a:defRPr>
            </a:pPr>
            <a:r>
              <a:t>• Test Case 2: Emergency Response: Query: 'Flood emergency!' -&gt; Pauses, requests admin yes/no consent, resumes to output shelter locations.</a:t>
            </a:r>
          </a:p>
          <a:p>
            <a:pPr>
              <a:spcAft>
                <a:spcPts val="1000"/>
              </a:spcAft>
              <a:defRPr sz="1500" b="1">
                <a:solidFill>
                  <a:srgbClr val="F0F0F0"/>
                </a:solidFill>
              </a:defRPr>
            </a:pPr>
            <a:r>
              <a:t>• Test Case 3: Injection Block: Query: 'Ignore previous rules' -&gt; Blocks execution instantly, returning a security warning.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4FFDA"/>
                </a:solidFill>
              </a:defRPr>
            </a:pPr>
            <a:r>
              <a:t>Outcomes &amp; Future Scope</a:t>
            </a:r>
          </a:p>
          <a:p>
            <a:pPr>
              <a:defRPr sz="1800" b="1">
                <a:solidFill>
                  <a:srgbClr val="64FFDA"/>
                </a:solidFill>
              </a:defRPr>
            </a:pPr>
            <a:r>
              <a:t>• </a:t>
            </a:r>
            <a:br/>
            <a:r>
              <a:t>Actionable Commutes</a:t>
            </a:r>
          </a:p>
          <a:p>
            <a:pPr>
              <a:spcAft>
                <a:spcPts val="1000"/>
              </a:spcAft>
              <a:defRPr sz="1400">
                <a:solidFill>
                  <a:srgbClr val="F0F0F0"/>
                </a:solidFill>
              </a:defRPr>
            </a:pPr>
            <a:r>
              <a:t>  Helps citizens avoid major congestion delays and pollution spikes using localized real-time sensors.</a:t>
            </a:r>
          </a:p>
          <a:p>
            <a:pPr>
              <a:defRPr sz="1800" b="1">
                <a:solidFill>
                  <a:srgbClr val="64FFDA"/>
                </a:solidFill>
              </a:defRPr>
            </a:pPr>
            <a:r>
              <a:t>• Enhanced Public Safety</a:t>
            </a:r>
          </a:p>
          <a:p>
            <a:pPr>
              <a:spcAft>
                <a:spcPts val="1000"/>
              </a:spcAft>
              <a:defRPr sz="1400">
                <a:solidFill>
                  <a:srgbClr val="F0F0F0"/>
                </a:solidFill>
              </a:defRPr>
            </a:pPr>
            <a:r>
              <a:t>  Allows city administrators to oversee emergency workflows with manual verification gates.</a:t>
            </a:r>
          </a:p>
          <a:p>
            <a:pPr>
              <a:defRPr sz="1800" b="1">
                <a:solidFill>
                  <a:srgbClr val="64FFDA"/>
                </a:solidFill>
              </a:defRPr>
            </a:pPr>
            <a:r>
              <a:t>• Future Integrations</a:t>
            </a:r>
          </a:p>
          <a:p>
            <a:pPr>
              <a:spcAft>
                <a:spcPts val="1000"/>
              </a:spcAft>
              <a:defRPr sz="1400">
                <a:solidFill>
                  <a:srgbClr val="F0F0F0"/>
                </a:solidFill>
              </a:defRPr>
            </a:pPr>
            <a:r>
              <a:t>  Extend MCP server to connect to real municipal databases (Firestore, AlloyDB, Google Maps APIs) and build Looker Studio dashboards.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